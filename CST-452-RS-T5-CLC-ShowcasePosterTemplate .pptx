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32918400" cy="438912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0334"/>
    <a:srgbClr val="4F2171"/>
    <a:srgbClr val="441D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806B4-9F47-40AB-9C55-77790E060F2F}" v="3" dt="2024-11-12T17:56:15.1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8" d="100"/>
          <a:sy n="18" d="100"/>
        </p:scale>
        <p:origin x="2946" y="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 Lipp (GCE)" userId="ddad3de7-a67b-433d-94cc-b10c6e15069c" providerId="ADAL" clId="{DDD806B4-9F47-40AB-9C55-77790E060F2F}"/>
    <pc:docChg chg="undo custSel modSld">
      <pc:chgData name="Michelle Lipp (GCE)" userId="ddad3de7-a67b-433d-94cc-b10c6e15069c" providerId="ADAL" clId="{DDD806B4-9F47-40AB-9C55-77790E060F2F}" dt="2024-11-12T17:58:02.137" v="74" actId="20577"/>
      <pc:docMkLst>
        <pc:docMk/>
      </pc:docMkLst>
      <pc:sldChg chg="addSp delSp modSp mod">
        <pc:chgData name="Michelle Lipp (GCE)" userId="ddad3de7-a67b-433d-94cc-b10c6e15069c" providerId="ADAL" clId="{DDD806B4-9F47-40AB-9C55-77790E060F2F}" dt="2024-11-12T17:58:02.137" v="74" actId="20577"/>
        <pc:sldMkLst>
          <pc:docMk/>
          <pc:sldMk cId="3523442882" sldId="256"/>
        </pc:sldMkLst>
        <pc:spChg chg="mod">
          <ac:chgData name="Michelle Lipp (GCE)" userId="ddad3de7-a67b-433d-94cc-b10c6e15069c" providerId="ADAL" clId="{DDD806B4-9F47-40AB-9C55-77790E060F2F}" dt="2024-11-12T17:58:02.137" v="74" actId="20577"/>
          <ac:spMkLst>
            <pc:docMk/>
            <pc:sldMk cId="3523442882" sldId="256"/>
            <ac:spMk id="14" creationId="{00000000-0000-0000-0000-000000000000}"/>
          </ac:spMkLst>
        </pc:spChg>
        <pc:picChg chg="add mod">
          <ac:chgData name="Michelle Lipp (GCE)" userId="ddad3de7-a67b-433d-94cc-b10c6e15069c" providerId="ADAL" clId="{DDD806B4-9F47-40AB-9C55-77790E060F2F}" dt="2024-11-12T17:55:59.732" v="3"/>
          <ac:picMkLst>
            <pc:docMk/>
            <pc:sldMk cId="3523442882" sldId="256"/>
            <ac:picMk id="2" creationId="{42234848-BC68-584A-F1EF-BFDFD4DA8969}"/>
          </ac:picMkLst>
        </pc:picChg>
        <pc:picChg chg="add mod">
          <ac:chgData name="Michelle Lipp (GCE)" userId="ddad3de7-a67b-433d-94cc-b10c6e15069c" providerId="ADAL" clId="{DDD806B4-9F47-40AB-9C55-77790E060F2F}" dt="2024-11-12T17:56:46.077" v="15" actId="1076"/>
          <ac:picMkLst>
            <pc:docMk/>
            <pc:sldMk cId="3523442882" sldId="256"/>
            <ac:picMk id="3" creationId="{5C2C354B-5570-E4E3-B400-F36CB4050B60}"/>
          </ac:picMkLst>
        </pc:picChg>
        <pc:picChg chg="del">
          <ac:chgData name="Michelle Lipp (GCE)" userId="ddad3de7-a67b-433d-94cc-b10c6e15069c" providerId="ADAL" clId="{DDD806B4-9F47-40AB-9C55-77790E060F2F}" dt="2024-11-12T17:56:10.656" v="10" actId="478"/>
          <ac:picMkLst>
            <pc:docMk/>
            <pc:sldMk cId="3523442882" sldId="256"/>
            <ac:picMk id="5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9.611" v="9" actId="478"/>
          <ac:picMkLst>
            <pc:docMk/>
            <pc:sldMk cId="3523442882" sldId="256"/>
            <ac:picMk id="7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8.624" v="8" actId="478"/>
          <ac:picMkLst>
            <pc:docMk/>
            <pc:sldMk cId="3523442882" sldId="256"/>
            <ac:picMk id="8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7.752" v="7" actId="478"/>
          <ac:picMkLst>
            <pc:docMk/>
            <pc:sldMk cId="3523442882" sldId="256"/>
            <ac:picMk id="9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6.789" v="6" actId="478"/>
          <ac:picMkLst>
            <pc:docMk/>
            <pc:sldMk cId="3523442882" sldId="256"/>
            <ac:picMk id="10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5.874" v="5" actId="478"/>
          <ac:picMkLst>
            <pc:docMk/>
            <pc:sldMk cId="3523442882" sldId="256"/>
            <ac:picMk id="11" creationId="{00000000-0000-0000-0000-000000000000}"/>
          </ac:picMkLst>
        </pc:picChg>
        <pc:picChg chg="del">
          <ac:chgData name="Michelle Lipp (GCE)" userId="ddad3de7-a67b-433d-94cc-b10c6e15069c" providerId="ADAL" clId="{DDD806B4-9F47-40AB-9C55-77790E060F2F}" dt="2024-11-12T17:56:04.113" v="4" actId="478"/>
          <ac:picMkLst>
            <pc:docMk/>
            <pc:sldMk cId="3523442882" sldId="256"/>
            <ac:picMk id="1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7183123"/>
            <a:ext cx="27980640" cy="1528064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3053043"/>
            <a:ext cx="24688800" cy="10596877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7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10942333"/>
            <a:ext cx="28392120" cy="18257517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9372573"/>
            <a:ext cx="28392120" cy="9601197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59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1684000"/>
            <a:ext cx="13990320" cy="27848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27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336810"/>
            <a:ext cx="28392120" cy="84836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10759443"/>
            <a:ext cx="13926024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6032480"/>
            <a:ext cx="13926024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10759443"/>
            <a:ext cx="13994608" cy="5273037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6032480"/>
            <a:ext cx="13994608" cy="23581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03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70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6319530"/>
            <a:ext cx="16664940" cy="311912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31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926080"/>
            <a:ext cx="10617041" cy="102412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6319530"/>
            <a:ext cx="16664940" cy="31191200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3167360"/>
            <a:ext cx="10617041" cy="24394163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0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91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336800"/>
            <a:ext cx="7098030" cy="3719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336800"/>
            <a:ext cx="20882610" cy="3719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21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336810"/>
            <a:ext cx="28392120" cy="84836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1684000"/>
            <a:ext cx="28392120" cy="2784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11913-F300-43E2-BF3B-5FB217FBE680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40680650"/>
            <a:ext cx="1110996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40680650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9FF95B-D2DD-4417-868C-7EF45FA9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290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/>
          </p:cNvSpPr>
          <p:nvPr/>
        </p:nvSpPr>
        <p:spPr>
          <a:xfrm>
            <a:off x="1" y="-9"/>
            <a:ext cx="32918399" cy="6240024"/>
          </a:xfrm>
          <a:prstGeom prst="rect">
            <a:avLst/>
          </a:prstGeom>
          <a:solidFill>
            <a:srgbClr val="280334"/>
          </a:solidFill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0" b="1" dirty="0" err="1">
                <a:solidFill>
                  <a:schemeClr val="bg1"/>
                </a:solidFill>
              </a:rPr>
              <a:t>ListIT</a:t>
            </a:r>
            <a:endParaRPr lang="en-US" sz="12000" b="1" dirty="0">
              <a:solidFill>
                <a:schemeClr val="bg1"/>
              </a:solidFill>
            </a:endParaRPr>
          </a:p>
          <a:p>
            <a:pPr algn="ctr"/>
            <a:r>
              <a:rPr lang="en-US" sz="8000" b="1" dirty="0">
                <a:solidFill>
                  <a:schemeClr val="bg1"/>
                </a:solidFill>
              </a:rPr>
              <a:t>Web-Based Inventory Management</a:t>
            </a:r>
          </a:p>
          <a:p>
            <a:pPr algn="ctr"/>
            <a:endParaRPr lang="en-US" sz="6000" dirty="0">
              <a:solidFill>
                <a:schemeClr val="bg1"/>
              </a:solidFill>
            </a:endParaRPr>
          </a:p>
          <a:p>
            <a:pPr algn="ctr"/>
            <a:r>
              <a:rPr lang="en-US" sz="6000" dirty="0">
                <a:solidFill>
                  <a:schemeClr val="bg1"/>
                </a:solidFill>
              </a:rPr>
              <a:t>Cody Crosby | GCU | CST-452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1885" y="6501272"/>
            <a:ext cx="25722363" cy="56169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500" b="1" dirty="0"/>
              <a:t>Project Overview</a:t>
            </a:r>
            <a:endParaRPr lang="en-US" sz="6500" dirty="0"/>
          </a:p>
          <a:p>
            <a:r>
              <a:rPr lang="en-US" sz="4200" dirty="0" err="1"/>
              <a:t>ListIT</a:t>
            </a:r>
            <a:r>
              <a:rPr lang="en-US" sz="4200" dirty="0"/>
              <a:t> is a web-based inventory management system designed to proved users with a centralized platform for organizing and maintaining multiple inventory catalogs. Users can create catalogs, organize products into categories, and manage inventory records through a responsive web interface. </a:t>
            </a:r>
          </a:p>
          <a:p>
            <a:endParaRPr lang="en-US" sz="4200" dirty="0"/>
          </a:p>
          <a:p>
            <a:r>
              <a:rPr lang="en-US" sz="4200" dirty="0"/>
              <a:t>The project addresses the limitations of spreadsheets and manual inventory tracking, which can lead to disorganization, inconsistent data, and inefficient processes.</a:t>
            </a:r>
          </a:p>
          <a:p>
            <a:r>
              <a:rPr lang="en-US" sz="4200" dirty="0" err="1"/>
              <a:t>ListIT</a:t>
            </a:r>
            <a:r>
              <a:rPr lang="en-US" sz="4200" dirty="0"/>
              <a:t> provides a structured solution while demonstrating full-stack software development practices.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885" y="12872231"/>
            <a:ext cx="1063869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Key Features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User registration &amp; authentication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User profile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Inventory catalog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Parent/child category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Product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Catalog search &amp; </a:t>
            </a:r>
            <a:r>
              <a:rPr lang="en-US" sz="4200" dirty="0" err="1"/>
              <a:t>fitering</a:t>
            </a:r>
            <a:endParaRPr lang="en-US" sz="42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Catalog sharing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Administrative user management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Role-based authorization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200" dirty="0"/>
              <a:t>Persistent application logging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2C354B-5570-E4E3-B400-F36CB4050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4249" y="6501272"/>
            <a:ext cx="5228924" cy="5228924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FCE698-0192-95B9-3519-8E90E6557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83059"/>
              </p:ext>
            </p:extLst>
          </p:nvPr>
        </p:nvGraphicFramePr>
        <p:xfrm>
          <a:off x="23324885" y="14022519"/>
          <a:ext cx="8563004" cy="10016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0598">
                  <a:extLst>
                    <a:ext uri="{9D8B030D-6E8A-4147-A177-3AD203B41FA5}">
                      <a16:colId xmlns:a16="http://schemas.microsoft.com/office/drawing/2014/main" val="3952860561"/>
                    </a:ext>
                  </a:extLst>
                </a:gridCol>
                <a:gridCol w="5052406">
                  <a:extLst>
                    <a:ext uri="{9D8B030D-6E8A-4147-A177-3AD203B41FA5}">
                      <a16:colId xmlns:a16="http://schemas.microsoft.com/office/drawing/2014/main" val="1073138408"/>
                    </a:ext>
                  </a:extLst>
                </a:gridCol>
              </a:tblGrid>
              <a:tr h="1146630">
                <a:tc>
                  <a:txBody>
                    <a:bodyPr/>
                    <a:lstStyle/>
                    <a:p>
                      <a:r>
                        <a:rPr lang="en-US" sz="42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b="1" dirty="0"/>
                        <a:t>Technologies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8768053"/>
                  </a:ext>
                </a:extLst>
              </a:tr>
              <a:tr h="1154162">
                <a:tc>
                  <a:txBody>
                    <a:bodyPr/>
                    <a:lstStyle/>
                    <a:p>
                      <a:r>
                        <a:rPr lang="en-US" sz="4200" dirty="0"/>
                        <a:t>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/>
                        <a:t>Java 17, Spring Boot 3.4.4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818257"/>
                  </a:ext>
                </a:extLst>
              </a:tr>
              <a:tr h="1154162">
                <a:tc>
                  <a:txBody>
                    <a:bodyPr/>
                    <a:lstStyle/>
                    <a:p>
                      <a:r>
                        <a:rPr lang="en-US" sz="4200" dirty="0"/>
                        <a:t>Web/UI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 err="1"/>
                        <a:t>Thymeleaf</a:t>
                      </a:r>
                      <a:r>
                        <a:rPr lang="en-US" sz="4200" dirty="0"/>
                        <a:t>, Bootstrap, HTML5, CSS3, JavaScript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381735"/>
                  </a:ext>
                </a:extLst>
              </a:tr>
              <a:tr h="1154162">
                <a:tc>
                  <a:txBody>
                    <a:bodyPr/>
                    <a:lstStyle/>
                    <a:p>
                      <a:r>
                        <a:rPr lang="en-US" sz="4200" dirty="0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/>
                        <a:t>Spring Security, </a:t>
                      </a:r>
                      <a:r>
                        <a:rPr lang="en-US" sz="4200" dirty="0" err="1"/>
                        <a:t>Bcrypt</a:t>
                      </a:r>
                      <a:r>
                        <a:rPr lang="en-US" sz="4200" dirty="0"/>
                        <a:t>, HTTPS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016297"/>
                  </a:ext>
                </a:extLst>
              </a:tr>
              <a:tr h="1154162">
                <a:tc>
                  <a:txBody>
                    <a:bodyPr/>
                    <a:lstStyle/>
                    <a:p>
                      <a:r>
                        <a:rPr lang="en-US" sz="420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/>
                        <a:t>Spring Data JDBC, MySQL 8.0.44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850389"/>
                  </a:ext>
                </a:extLst>
              </a:tr>
              <a:tr h="1154162">
                <a:tc>
                  <a:txBody>
                    <a:bodyPr/>
                    <a:lstStyle/>
                    <a:p>
                      <a:r>
                        <a:rPr lang="en-US" sz="4200" dirty="0"/>
                        <a:t>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/>
                        <a:t>Spring Tool Suite 4, MySQL Workbench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613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4200" dirty="0"/>
                        <a:t>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200" dirty="0"/>
                        <a:t>Custom CSV application logger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0039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42A30F0-AAFA-D019-BC84-6F46174AAE76}"/>
              </a:ext>
            </a:extLst>
          </p:cNvPr>
          <p:cNvSpPr txBox="1"/>
          <p:nvPr/>
        </p:nvSpPr>
        <p:spPr>
          <a:xfrm>
            <a:off x="12199745" y="13195396"/>
            <a:ext cx="8812406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Solution Design</a:t>
            </a:r>
          </a:p>
          <a:p>
            <a:pPr algn="just"/>
            <a:r>
              <a:rPr lang="en-US" sz="4200" dirty="0" err="1"/>
              <a:t>ListIT</a:t>
            </a:r>
            <a:r>
              <a:rPr lang="en-US" sz="4200" dirty="0"/>
              <a:t> uses a layered MVC architecture that separates presentation, business logic, and data access. Users requests are processed through Spring Boot controllers and services before data is persisted through Spring Data JDBC to a MySQL relational database. Spring Security provides authentication and role-based authorization.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E654FF-5869-1B15-3676-0052CC33D7C7}"/>
              </a:ext>
            </a:extLst>
          </p:cNvPr>
          <p:cNvSpPr txBox="1"/>
          <p:nvPr/>
        </p:nvSpPr>
        <p:spPr>
          <a:xfrm>
            <a:off x="23431607" y="12872231"/>
            <a:ext cx="7414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/>
              <a:t>Technology Stack</a:t>
            </a:r>
            <a:endParaRPr lang="en-US" sz="6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7AC3A7D-64ED-C897-4FD7-8BFE8C606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558" y="23136774"/>
            <a:ext cx="20128352" cy="106039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410D6A4-3822-FC8B-64EE-F603348F49AD}"/>
              </a:ext>
            </a:extLst>
          </p:cNvPr>
          <p:cNvSpPr txBox="1"/>
          <p:nvPr/>
        </p:nvSpPr>
        <p:spPr>
          <a:xfrm>
            <a:off x="3268134" y="21535206"/>
            <a:ext cx="1645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/>
              <a:t>Physical Design Solution</a:t>
            </a:r>
            <a:endParaRPr lang="en-US" sz="6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7FEE01-5275-6E2A-33CD-46F8BE5AB256}"/>
              </a:ext>
            </a:extLst>
          </p:cNvPr>
          <p:cNvSpPr txBox="1"/>
          <p:nvPr/>
        </p:nvSpPr>
        <p:spPr>
          <a:xfrm>
            <a:off x="1392947" y="36526290"/>
            <a:ext cx="931190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Results/Relevant Data</a:t>
            </a:r>
          </a:p>
          <a:p>
            <a:pPr algn="just"/>
            <a:endParaRPr lang="en-US" sz="3600" b="1" dirty="0"/>
          </a:p>
          <a:p>
            <a:pPr algn="just"/>
            <a:r>
              <a:rPr lang="en-US" sz="4200" b="1" dirty="0"/>
              <a:t>User Stories Completed:</a:t>
            </a:r>
          </a:p>
          <a:p>
            <a:pPr algn="just"/>
            <a:r>
              <a:rPr lang="en-US" sz="4200" b="1" dirty="0"/>
              <a:t>10/10</a:t>
            </a:r>
          </a:p>
          <a:p>
            <a:pPr algn="just"/>
            <a:endParaRPr lang="en-US" sz="4200" b="1" dirty="0"/>
          </a:p>
          <a:p>
            <a:pPr algn="just"/>
            <a:r>
              <a:rPr lang="en-US" sz="4200" b="1" dirty="0"/>
              <a:t>Technical Improvements Completed:</a:t>
            </a:r>
          </a:p>
          <a:p>
            <a:pPr algn="just"/>
            <a:r>
              <a:rPr lang="en-US" sz="4200" b="1" dirty="0"/>
              <a:t>5/5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2F72D5E-E3DF-0F26-61A5-183B13CF14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854" y="34873447"/>
            <a:ext cx="13875157" cy="860011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52DFBA2-3DB6-CE93-B639-372686C633C6}"/>
              </a:ext>
            </a:extLst>
          </p:cNvPr>
          <p:cNvSpPr txBox="1"/>
          <p:nvPr/>
        </p:nvSpPr>
        <p:spPr>
          <a:xfrm>
            <a:off x="22609041" y="26116174"/>
            <a:ext cx="9278848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Design &amp; Development Process</a:t>
            </a:r>
          </a:p>
          <a:p>
            <a:pPr algn="just"/>
            <a:r>
              <a:rPr lang="en-US" sz="4200" b="1" dirty="0"/>
              <a:t>Requirements &gt; </a:t>
            </a:r>
            <a:r>
              <a:rPr lang="en-US" sz="4200" b="1" dirty="0" err="1"/>
              <a:t>Architecure</a:t>
            </a:r>
            <a:r>
              <a:rPr lang="en-US" sz="4200" b="1" dirty="0"/>
              <a:t> &gt; Database/UI Design &gt; </a:t>
            </a:r>
            <a:r>
              <a:rPr lang="en-US" sz="4200" b="1" dirty="0" err="1"/>
              <a:t>Implemenation</a:t>
            </a:r>
            <a:r>
              <a:rPr lang="en-US" sz="4200" b="1" dirty="0"/>
              <a:t> &gt; Testing &gt; Refinement</a:t>
            </a:r>
          </a:p>
          <a:p>
            <a:pPr algn="just"/>
            <a:endParaRPr lang="en-US" sz="4200" b="1" dirty="0"/>
          </a:p>
          <a:p>
            <a:pPr algn="just"/>
            <a:r>
              <a:rPr lang="en-US" sz="4200" dirty="0" err="1"/>
              <a:t>ListIT</a:t>
            </a:r>
            <a:r>
              <a:rPr lang="en-US" sz="4200" dirty="0"/>
              <a:t> was developed incrementally, with features implemented and manually tested one at a time. Requirements, user stories, database design, wireframes, UML diagrams, and process flows were used to guide implementation. Testing and refinement continued throughout development.</a:t>
            </a:r>
          </a:p>
        </p:txBody>
      </p:sp>
    </p:spTree>
    <p:extLst>
      <p:ext uri="{BB962C8B-B14F-4D97-AF65-F5344CB8AC3E}">
        <p14:creationId xmlns:p14="http://schemas.microsoft.com/office/powerpoint/2010/main" val="352344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1D7BF13958C64483E7E107A08507EA" ma:contentTypeVersion="3706" ma:contentTypeDescription="Create a new document." ma:contentTypeScope="" ma:versionID="27b9d429859bcb4cc95ca5b147d3168a">
  <xsd:schema xmlns:xsd="http://www.w3.org/2001/XMLSchema" xmlns:xs="http://www.w3.org/2001/XMLSchema" xmlns:p="http://schemas.microsoft.com/office/2006/metadata/properties" xmlns:ns1="http://schemas.microsoft.com/sharepoint/v3" xmlns:ns2="b457ba54-12e9-41a3-ab87-ffd5bc645430" xmlns:ns3="37d47695-dda2-48a2-87bc-2a1f7ac7fedc" targetNamespace="http://schemas.microsoft.com/office/2006/metadata/properties" ma:root="true" ma:fieldsID="1c82921937d1af28a735bf3437c860b8" ns1:_="" ns2:_="" ns3:_="">
    <xsd:import namespace="http://schemas.microsoft.com/sharepoint/v3"/>
    <xsd:import namespace="b457ba54-12e9-41a3-ab87-ffd5bc645430"/>
    <xsd:import namespace="37d47695-dda2-48a2-87bc-2a1f7ac7fe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ba54-12e9-41a3-ab87-ffd5bc6454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6f79346d-4f46-4bf1-b4df-486c6d391f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d47695-dda2-48a2-87bc-2a1f7ac7fedc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ebea8f4f-161d-469c-9cf2-f7071433846c}" ma:internalName="TaxCatchAll" ma:showField="CatchAllData" ma:web="37d47695-dda2-48a2-87bc-2a1f7ac7fe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37d47695-dda2-48a2-87bc-2a1f7ac7fedc" xsi:nil="true"/>
    <lcf76f155ced4ddcb4097134ff3c332f xmlns="b457ba54-12e9-41a3-ab87-ffd5bc64543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B8E3D21-E603-4A1B-A79A-45A8E27A4A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78B2000-F3EA-407A-BB9E-2050E5F2FB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457ba54-12e9-41a3-ab87-ffd5bc645430"/>
    <ds:schemaRef ds:uri="37d47695-dda2-48a2-87bc-2a1f7ac7fe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8CC34E-46EA-4D24-8732-7729D15FAD8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b3b59848-949a-4ed4-8036-feb011ce2b52"/>
    <ds:schemaRef ds:uri="http://purl.org/dc/elements/1.1/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37d47695-dda2-48a2-87bc-2a1f7ac7fedc"/>
    <ds:schemaRef ds:uri="http://www.w3.org/XML/1998/namespace"/>
    <ds:schemaRef ds:uri="b457ba54-12e9-41a3-ab87-ffd5bc64543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5900</TotalTime>
  <Words>306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Grand Canyon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 Valla</dc:creator>
  <cp:lastModifiedBy>Cody Crosby</cp:lastModifiedBy>
  <cp:revision>10</cp:revision>
  <dcterms:created xsi:type="dcterms:W3CDTF">2018-09-14T20:10:55Z</dcterms:created>
  <dcterms:modified xsi:type="dcterms:W3CDTF">2026-09-27T02:07:34Z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0x010100911D7BF13958C64483E7E107A08507EA</vt:lpwstr>
  </property>
  <property fmtid="{D5CDD505-2E9C-101B-9397-08002B2CF9AE}" pid="3" name="MediaServiceImageTags">
    <vt:lpwstr/>
  </property>
</Properties>
</file>